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>
                <a:solidFill>
                  <a:srgbClr val="0F172A"/>
                </a:solidFill>
              </a:defRPr>
            </a:pPr>
            <a:r>
              <a:t>Sparklio AI Marketing Studio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Phase 10 완료 보고 및 데모</a:t>
            </a:r>
          </a:p>
          <a:p/>
          <a:p>
            <a:r>
              <a:t>[팀 구성]</a:t>
            </a:r>
          </a:p>
          <a:p>
            <a:r>
              <a:t>A팀: QA (품질 보증)</a:t>
            </a:r>
          </a:p>
          <a:p>
            <a:r>
              <a:t>B팀: Backend (서버 개발)</a:t>
            </a:r>
          </a:p>
          <a:p>
            <a:r>
              <a:t>C팀: 박성언 (PM 및 총괄)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3B82F6"/>
                </a:solidFill>
              </a:defRPr>
            </a:pPr>
            <a:r>
              <a:t>프로젝트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목표: AI 기반 마케팅 콘텐츠 생성 및 편집 플랫폼 구축</a:t>
            </a:r>
          </a:p>
          <a:p>
            <a:pPr>
              <a:defRPr sz="2000"/>
            </a:pPr>
            <a:r>
              <a:t>현재 상태: Phase 10 완료 (전체 진행률 67%)</a:t>
            </a:r>
          </a:p>
          <a:p>
            <a:pPr>
              <a:defRPr sz="2000"/>
            </a:pPr>
            <a:r>
              <a:t>주요 성과:</a:t>
            </a:r>
          </a:p>
          <a:p>
            <a:pPr>
              <a:defRPr sz="2000"/>
            </a:pPr>
            <a:r>
              <a:t>  - 하이브리드 인프라 (Mac Mini + Desktop GPU) 구축 완료</a:t>
            </a:r>
          </a:p>
          <a:p>
            <a:pPr>
              <a:defRPr sz="2000"/>
            </a:pPr>
            <a:r>
              <a:t>  - Multi-LLM Gateway (OpenAI, Gemini, Ollama) 통합</a:t>
            </a:r>
          </a:p>
          <a:p>
            <a:pPr>
              <a:defRPr sz="2000"/>
            </a:pPr>
            <a:r>
              <a:t>  - Spark Chat 및 Canvas Studio UI/UX 고도화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3B82F6"/>
                </a:solidFill>
              </a:defRPr>
            </a:pPr>
            <a:r>
              <a:t>시스템 아키텍처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하이브리드 클라우드/온프레미스 구조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1. Control Tower (Mac Mini)</a:t>
            </a:r>
          </a:p>
          <a:p>
            <a:pPr>
              <a:defRPr sz="2000"/>
            </a:pPr>
            <a:r>
              <a:t>  - FastAPI Backend Server</a:t>
            </a:r>
          </a:p>
          <a:p>
            <a:pPr>
              <a:defRPr sz="2000"/>
            </a:pPr>
            <a:r>
              <a:t>  - Next.js Frontend Server</a:t>
            </a:r>
          </a:p>
          <a:p>
            <a:pPr>
              <a:defRPr sz="2000"/>
            </a:pPr>
            <a:r>
              <a:t>  - Redis (Caching) &amp; PostgreSQL (DB)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2. GPU Worker (Desktop PC)</a:t>
            </a:r>
          </a:p>
          <a:p>
            <a:pPr>
              <a:defRPr sz="2000"/>
            </a:pPr>
            <a:r>
              <a:t>  - Ollama (Llama 3, Mistral 등 로컬 LLM)</a:t>
            </a:r>
          </a:p>
          <a:p>
            <a:pPr>
              <a:defRPr sz="2000"/>
            </a:pPr>
            <a:r>
              <a:t>  - ComfyUI (이미지 생성 엔진)</a:t>
            </a:r>
          </a:p>
          <a:p>
            <a:pPr>
              <a:defRPr sz="2000"/>
            </a:pPr>
            <a:r>
              <a:t>  - NVIDIA RTX 4090 활용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3B82F6"/>
                </a:solidFill>
              </a:defRPr>
            </a:pPr>
            <a:r>
              <a:t>핵심 기능 1: Spark Chat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지능형 멀티 모델 채팅 인터페이스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주요 특징:</a:t>
            </a:r>
          </a:p>
          <a:p>
            <a:pPr>
              <a:defRPr sz="2000"/>
            </a:pPr>
            <a:r>
              <a:t>  - 다양한 LLM 선택 가능 (GPT-4o, Gemini 2.0, Claude 3.5)</a:t>
            </a:r>
          </a:p>
          <a:p>
            <a:pPr>
              <a:defRPr sz="2000"/>
            </a:pPr>
            <a:r>
              <a:t>  - Live Mode: 실제 API 연동 완료</a:t>
            </a:r>
          </a:p>
          <a:p>
            <a:pPr>
              <a:defRPr sz="2000"/>
            </a:pPr>
            <a:r>
              <a:t>  - UI 개선: 하단 고정 입력창 (VS Code 스타일)</a:t>
            </a:r>
          </a:p>
          <a:p>
            <a:pPr>
              <a:defRPr sz="2000"/>
            </a:pPr>
            <a:r>
              <a:t>  - 컨텍스트 인식: 이전 대화 내용을 바탕으로 답변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3B82F6"/>
                </a:solidFill>
              </a:defRPr>
            </a:pPr>
            <a:r>
              <a:t>핵심 기능 2: Canvas Studio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Konva.js 기반 이미지 편집 스튜디오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주요 특징:</a:t>
            </a:r>
          </a:p>
          <a:p>
            <a:pPr>
              <a:defRPr sz="2000"/>
            </a:pPr>
            <a:r>
              <a:t>  - 레이어 기반 편집 (Photoshop 유사 경험)</a:t>
            </a:r>
          </a:p>
          <a:p>
            <a:pPr>
              <a:defRPr sz="2000"/>
            </a:pPr>
            <a:r>
              <a:t>  - AI 생성 이미지의 실시간 수정 및 배치</a:t>
            </a:r>
          </a:p>
          <a:p>
            <a:pPr>
              <a:defRPr sz="2000"/>
            </a:pPr>
            <a:r>
              <a:t>  - 브랜드 키트 연동 (로고, 색상 팔레트)</a:t>
            </a:r>
          </a:p>
          <a:p>
            <a:pPr>
              <a:defRPr sz="2000"/>
            </a:pPr>
            <a:r>
              <a:t>  - 직관적인 속성 패널 (크기, 색상, 폰트 조절)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3B82F6"/>
                </a:solidFill>
              </a:defRPr>
            </a:pPr>
            <a:r>
              <a:t>향후 계획 (Phase 11-15)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남은 과제 및 로드맵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Phase 11: LLM Router 고도화 (자동 모델 추천)</a:t>
            </a:r>
          </a:p>
          <a:p>
            <a:pPr>
              <a:defRPr sz="2000"/>
            </a:pPr>
            <a:r>
              <a:t>Phase 12: Canvas Drag &amp; Drop 및 Undo/Redo 구현</a:t>
            </a:r>
          </a:p>
          <a:p>
            <a:pPr>
              <a:defRPr sz="2000"/>
            </a:pPr>
            <a:r>
              <a:t>Phase 13: ComfyUI 이미지 생성 엔진 완전 통합</a:t>
            </a:r>
          </a:p>
          <a:p>
            <a:pPr>
              <a:defRPr sz="2000"/>
            </a:pPr>
            <a:r>
              <a:t>Phase 14: 사용자 인증 및 권한 관리 시스템</a:t>
            </a:r>
          </a:p>
          <a:p>
            <a:pPr>
              <a:defRPr sz="2000"/>
            </a:pPr>
            <a:r>
              <a:t>Phase 15: 최종 통합 테스트 및 배포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